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0A1F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95407</c:v>
                </c:pt>
                <c:pt idx="1">
                  <c:v>121067</c:v>
                </c:pt>
                <c:pt idx="2">
                  <c:v>159516</c:v>
                </c:pt>
                <c:pt idx="3">
                  <c:v>186331</c:v>
                </c:pt>
                <c:pt idx="4">
                  <c:v>195218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Margin %</c:v>
                </c:pt>
              </c:strCache>
            </c:strRef>
          </c:tx>
          <c:spPr>
            <a:solidFill>
              <a:srgbClr val="00D9A3"/>
            </a:solidFill>
            <a:ln w="38100" cap="flat">
              <a:solidFill>
                <a:srgbClr val="00D9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D9A3"/>
              </a:solidFill>
              <a:ln w="9525" cap="flat">
                <a:solidFill>
                  <a:srgbClr val="00D9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0.2632</c:v>
                </c:pt>
                <c:pt idx="1">
                  <c:v>0.2812</c:v>
                </c:pt>
                <c:pt idx="2">
                  <c:v>0.2775</c:v>
                </c:pt>
                <c:pt idx="3">
                  <c:v>0.2739</c:v>
                </c:pt>
                <c:pt idx="4">
                  <c:v>0.2777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Revenue (₹ Cr)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592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0.4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Net Margin %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592AD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0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0A1F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FY27E</c:v>
                  </c:pt>
                  <c:pt idx="1">
                    <c:v>FY28E</c:v>
                  </c:pt>
                  <c:pt idx="2">
                    <c:v>FY29E</c:v>
                  </c:pt>
                  <c:pt idx="3">
                    <c:v>FY30E</c:v>
                  </c:pt>
                  <c:pt idx="4">
                    <c:v>FY31E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232309</c:v>
                </c:pt>
                <c:pt idx="1">
                  <c:v>275287</c:v>
                </c:pt>
                <c:pt idx="2">
                  <c:v>324838</c:v>
                </c:pt>
                <c:pt idx="3">
                  <c:v>381685</c:v>
                </c:pt>
                <c:pt idx="4">
                  <c:v>446571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Margin %</c:v>
                </c:pt>
              </c:strCache>
            </c:strRef>
          </c:tx>
          <c:spPr>
            <a:solidFill>
              <a:srgbClr val="00D9A3"/>
            </a:solidFill>
            <a:ln w="38100" cap="flat">
              <a:solidFill>
                <a:srgbClr val="00D9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D9A3"/>
              </a:solidFill>
              <a:ln w="9525" cap="flat">
                <a:solidFill>
                  <a:srgbClr val="00D9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FY27E</c:v>
                  </c:pt>
                  <c:pt idx="1">
                    <c:v>FY28E</c:v>
                  </c:pt>
                  <c:pt idx="2">
                    <c:v>FY29E</c:v>
                  </c:pt>
                  <c:pt idx="3">
                    <c:v>FY30E</c:v>
                  </c:pt>
                  <c:pt idx="4">
                    <c:v>FY31E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0.323</c:v>
                </c:pt>
                <c:pt idx="1">
                  <c:v>0.363</c:v>
                </c:pt>
                <c:pt idx="2">
                  <c:v>0.399</c:v>
                </c:pt>
                <c:pt idx="3">
                  <c:v>0.432</c:v>
                </c:pt>
                <c:pt idx="4">
                  <c:v>0.46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Revenue (₹ Cr)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592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0.5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Net Margin %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592AD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0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5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8455" y="5212080"/>
            <a:ext cx="36576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/>
        </p:spPr>
      </p:sp>
      <p:sp>
        <p:nvSpPr>
          <p:cNvPr id="3" name="Shape 1"/>
          <p:cNvSpPr/>
          <p:nvPr/>
        </p:nvSpPr>
        <p:spPr>
          <a:xfrm>
            <a:off x="9631375" y="4754880"/>
            <a:ext cx="365760" cy="13716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/>
        </p:spPr>
      </p:sp>
      <p:sp>
        <p:nvSpPr>
          <p:cNvPr id="4" name="Shape 2"/>
          <p:cNvSpPr/>
          <p:nvPr/>
        </p:nvSpPr>
        <p:spPr>
          <a:xfrm>
            <a:off x="10134295" y="4297680"/>
            <a:ext cx="365760" cy="18288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/>
        </p:spPr>
      </p:sp>
      <p:sp>
        <p:nvSpPr>
          <p:cNvPr id="5" name="Shape 3"/>
          <p:cNvSpPr/>
          <p:nvPr/>
        </p:nvSpPr>
        <p:spPr>
          <a:xfrm>
            <a:off x="10637215" y="3749040"/>
            <a:ext cx="365760" cy="237744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/>
        </p:spPr>
      </p:sp>
      <p:sp>
        <p:nvSpPr>
          <p:cNvPr id="6" name="Shape 4"/>
          <p:cNvSpPr/>
          <p:nvPr/>
        </p:nvSpPr>
        <p:spPr>
          <a:xfrm>
            <a:off x="11140135" y="3200400"/>
            <a:ext cx="365760" cy="2926080"/>
          </a:xfrm>
          <a:prstGeom prst="roundRect">
            <a:avLst>
              <a:gd name="adj" fmla="val 10000"/>
            </a:avLst>
          </a:prstGeom>
          <a:solidFill>
            <a:srgbClr val="00D9A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 &amp; FORECAST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Bank Ltd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Revenue, Expenditure &amp; Profitability Plan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2026-27E  –  FY 2030-31E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3977640"/>
            <a:ext cx="109728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60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Management Review  ·  Base / Bull / Bear Scenario Model  ·  September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 &amp; Analysis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BANK LTD (CONSOLIDATED)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Bank Ltd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Credit and Investment Corporation of India Bank Ltd — 2nd-largest private sector bank in India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160520" cy="4434840"/>
          </a:xfrm>
          <a:prstGeom prst="roundRect">
            <a:avLst>
              <a:gd name="adj" fmla="val 2637"/>
            </a:avLst>
          </a:prstGeom>
          <a:solidFill>
            <a:srgbClr val="0A1F4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560320"/>
            <a:ext cx="566928" cy="566928"/>
          </a:xfrm>
          <a:prstGeom prst="ellipse">
            <a:avLst/>
          </a:prstGeom>
          <a:solidFill>
            <a:srgbClr val="132B57"/>
          </a:solidFill>
          <a:ln/>
        </p:spPr>
      </p:sp>
      <p:pic>
        <p:nvPicPr>
          <p:cNvPr id="8" name="Image 0" descr="/home/claude/icici/assets/icons/university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50" y="2639690"/>
            <a:ext cx="408188" cy="4081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514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1955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600200" y="287121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— at the initiative of the World Bank &amp; Govt. of India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68680" y="3310128"/>
            <a:ext cx="566928" cy="566928"/>
          </a:xfrm>
          <a:prstGeom prst="ellipse">
            <a:avLst/>
          </a:prstGeom>
          <a:solidFill>
            <a:srgbClr val="132B57"/>
          </a:solidFill>
          <a:ln/>
        </p:spPr>
      </p:sp>
      <p:pic>
        <p:nvPicPr>
          <p:cNvPr id="12" name="Image 1" descr="/home/claude/icici/assets/icons/marker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50" y="3389498"/>
            <a:ext cx="408188" cy="4081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2644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~7,500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600200" y="362102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across India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68680" y="4059936"/>
            <a:ext cx="566928" cy="566928"/>
          </a:xfrm>
          <a:prstGeom prst="ellipse">
            <a:avLst/>
          </a:prstGeom>
          <a:solidFill>
            <a:srgbClr val="132B57"/>
          </a:solidFill>
          <a:ln/>
        </p:spPr>
      </p:sp>
      <p:pic>
        <p:nvPicPr>
          <p:cNvPr id="16" name="Image 2" descr="/home/claude/icici/assets/icons/card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50" y="4139306"/>
            <a:ext cx="408188" cy="4081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1421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12,000+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600200" y="437083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ATMs / CRMs nationwide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68680" y="4809744"/>
            <a:ext cx="566928" cy="566928"/>
          </a:xfrm>
          <a:prstGeom prst="ellipse">
            <a:avLst/>
          </a:prstGeom>
          <a:solidFill>
            <a:srgbClr val="132B57"/>
          </a:solidFill>
          <a:ln/>
        </p:spPr>
      </p:sp>
      <p:pic>
        <p:nvPicPr>
          <p:cNvPr id="20" name="Image 3" descr="/home/claude/icici/assets/icons/globe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050" y="4889114"/>
            <a:ext cx="408188" cy="4081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76402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600200" y="51206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banking presence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68680" y="5559552"/>
            <a:ext cx="566928" cy="566928"/>
          </a:xfrm>
          <a:prstGeom prst="ellipse">
            <a:avLst/>
          </a:prstGeom>
          <a:solidFill>
            <a:srgbClr val="132B57"/>
          </a:solidFill>
          <a:ln/>
        </p:spPr>
      </p:sp>
      <p:pic>
        <p:nvPicPr>
          <p:cNvPr id="24" name="Image 4" descr="/home/claude/icici/assets/icons/trophy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050" y="5638922"/>
            <a:ext cx="408188" cy="4081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00200" y="55138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1600200" y="587044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in India · 214th globally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029200" y="178308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Bank is an Indian multinational private bank and financial services company headquartered in Mumbai, offering a diversified portfolio of products across retail, SME and corporate banking. Beyond core banking, the group runs a full financial-services ecosystem spanning insurance, asset management and broking.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029200" y="29260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SUBSIDIARIES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029200" y="3273552"/>
            <a:ext cx="2042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2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230368" y="3438144"/>
            <a:ext cx="457200" cy="457200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31" name="Image 5" descr="/home/claude/icici/assets/icons/balanc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4376" y="350215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12080" y="3950208"/>
            <a:ext cx="167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Prudential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212080" y="4334256"/>
            <a:ext cx="167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Insurance &amp; AMC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7299960" y="3273552"/>
            <a:ext cx="2042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2">
                <a:alpha val="2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501128" y="3438144"/>
            <a:ext cx="457200" cy="457200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36" name="Image 6" descr="/home/claude/icici/assets/icons/shield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5136" y="3502152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482840" y="3950208"/>
            <a:ext cx="167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Lombard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7482840" y="4334256"/>
            <a:ext cx="167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Insurance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570720" y="3273552"/>
            <a:ext cx="2042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2">
                <a:alpha val="2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771888" y="3438144"/>
            <a:ext cx="457200" cy="457200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41" name="Image 7" descr="/home/claude/icici/assets/icons/card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5896" y="3502152"/>
            <a:ext cx="329184" cy="32918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753600" y="3950208"/>
            <a:ext cx="167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Securities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753600" y="4334256"/>
            <a:ext cx="167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Broking &amp; Investing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5029200" y="4892040"/>
            <a:ext cx="6583680" cy="960120"/>
          </a:xfrm>
          <a:prstGeom prst="roundRect">
            <a:avLst>
              <a:gd name="adj" fmla="val 9524"/>
            </a:avLst>
          </a:prstGeom>
          <a:solidFill>
            <a:srgbClr val="E7FBF4"/>
          </a:solidFill>
          <a:ln/>
        </p:spPr>
      </p:sp>
      <p:sp>
        <p:nvSpPr>
          <p:cNvPr id="45" name="Text 35"/>
          <p:cNvSpPr/>
          <p:nvPr/>
        </p:nvSpPr>
        <p:spPr>
          <a:xfrm>
            <a:off x="5349240" y="50200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₹9,90,020 Cr</a:t>
            </a:r>
            <a:endParaRPr lang="en-US" sz="2400" dirty="0"/>
          </a:p>
        </p:txBody>
      </p:sp>
      <p:sp>
        <p:nvSpPr>
          <p:cNvPr id="46" name="Text 36"/>
          <p:cNvSpPr/>
          <p:nvPr/>
        </p:nvSpPr>
        <p:spPr>
          <a:xfrm>
            <a:off x="5349240" y="5486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Capitalisation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8321040" y="5029200"/>
            <a:ext cx="0" cy="685800"/>
          </a:xfrm>
          <a:prstGeom prst="line">
            <a:avLst/>
          </a:prstGeom>
          <a:noFill/>
          <a:ln w="12700">
            <a:solidFill>
              <a:srgbClr val="BFE9DC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8641080" y="5020056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on the BSE (532174) and NSE (ICICIBANK) — among India’s most valuable listed banks, with a diversified fee-income base across insurance, asset management and broking.</a:t>
            </a:r>
            <a:endParaRPr lang="en-US" sz="1050" dirty="0"/>
          </a:p>
        </p:txBody>
      </p:sp>
      <p:sp>
        <p:nvSpPr>
          <p:cNvPr id="49" name="Text 39"/>
          <p:cNvSpPr/>
          <p:nvPr/>
        </p:nvSpPr>
        <p:spPr>
          <a:xfrm>
            <a:off x="5029200" y="60807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Company financials, screener.in, BSE filings · All figures consolidated basis</a:t>
            </a:r>
            <a:endParaRPr lang="en-US" sz="950" dirty="0"/>
          </a:p>
        </p:txBody>
      </p:sp>
      <p:sp>
        <p:nvSpPr>
          <p:cNvPr id="50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Company Overview</a:t>
            </a:r>
            <a:endParaRPr lang="en-US" sz="900" dirty="0"/>
          </a:p>
        </p:txBody>
      </p:sp>
      <p:sp>
        <p:nvSpPr>
          <p:cNvPr id="51" name="Text 41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BANK LTD (CONSOLIDATED)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five-year growth &amp; profitability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scenario: Bull case · credit up-cycle sustained, benign asset quality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132B5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31720"/>
            <a:ext cx="548640" cy="548640"/>
          </a:xfrm>
          <a:prstGeom prst="ellipse">
            <a:avLst/>
          </a:prstGeom>
          <a:solidFill>
            <a:srgbClr val="0A3D33"/>
          </a:solidFill>
          <a:ln/>
        </p:spPr>
      </p:sp>
      <p:pic>
        <p:nvPicPr>
          <p:cNvPr id="7" name="Image 0" descr="/home/claude/icici/assets/icons/chartline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240853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089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₹1,95,218 Cr → ₹4,46,571 Cr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9319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FY25-26 to FY30-31E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4453128"/>
            <a:ext cx="2880360" cy="0"/>
          </a:xfrm>
          <a:prstGeom prst="line">
            <a:avLst/>
          </a:prstGeom>
          <a:noFill/>
          <a:ln w="12700">
            <a:solidFill>
              <a:srgbClr val="2A3E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54456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 CAGR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205740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132B57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2331720"/>
            <a:ext cx="548640" cy="548640"/>
          </a:xfrm>
          <a:prstGeom prst="ellipse">
            <a:avLst/>
          </a:prstGeom>
          <a:solidFill>
            <a:srgbClr val="0A3D33"/>
          </a:solidFill>
          <a:ln/>
        </p:spPr>
      </p:sp>
      <p:pic>
        <p:nvPicPr>
          <p:cNvPr id="14" name="Image 1" descr="/home/claude/icici/assets/icons/coins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810" y="2408530"/>
            <a:ext cx="395021" cy="3950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31089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₹54,208 Cr → ₹2,05,517 Cr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572000" y="39319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(attributable), FY25-26 to FY30-31E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0" y="4453128"/>
            <a:ext cx="2880360" cy="0"/>
          </a:xfrm>
          <a:prstGeom prst="line">
            <a:avLst/>
          </a:prstGeom>
          <a:noFill/>
          <a:ln w="12700">
            <a:solidFill>
              <a:srgbClr val="2A3E6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0" y="454456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30.5% CAGR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046720" y="205740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132B57"/>
          </a:solidFill>
          <a:ln/>
        </p:spPr>
      </p:sp>
      <p:sp>
        <p:nvSpPr>
          <p:cNvPr id="20" name="Shape 16"/>
          <p:cNvSpPr/>
          <p:nvPr/>
        </p:nvSpPr>
        <p:spPr>
          <a:xfrm>
            <a:off x="8321040" y="2331720"/>
            <a:ext cx="548640" cy="548640"/>
          </a:xfrm>
          <a:prstGeom prst="ellipse">
            <a:avLst/>
          </a:prstGeom>
          <a:solidFill>
            <a:srgbClr val="0A3D33"/>
          </a:solidFill>
          <a:ln/>
        </p:spPr>
      </p:sp>
      <p:pic>
        <p:nvPicPr>
          <p:cNvPr id="21" name="Image 2" descr="/home/claude/icici/assets/icons/percentage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50" y="2408530"/>
            <a:ext cx="395021" cy="39502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31089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27.8% → 46.0%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8321040" y="39319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Margin, FY25-26 to FY30-31E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321040" y="4453128"/>
            <a:ext cx="2880360" cy="0"/>
          </a:xfrm>
          <a:prstGeom prst="line">
            <a:avLst/>
          </a:prstGeom>
          <a:noFill/>
          <a:ln w="12700">
            <a:solidFill>
              <a:srgbClr val="2A3E6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321040" y="454456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+18.2 pp expansion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Bull scenario, ICICI Bank’s consolidated Revenue is projected to grow from ₹1,95,218 Cr (FY25-26) to ₹4,46,571 Cr by FY30-31E, while Net Profit (attributable) grows to ₹2,05,517 Cr — with Net Margin expanding on sustained loan growth and improving cost-to-income discipline.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Executive Summary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BANK LTD (CONSOLIDATED)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SNAPSHOT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ICICI Bank stands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operating &amp; valuation ratios, most recent reported quarter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80894" cy="1216152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29968"/>
            <a:ext cx="384048" cy="384048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7" name="Image 0" descr="/home/claude/icici/assets/icons/balanc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575" y="2083735"/>
            <a:ext cx="276515" cy="2765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011680"/>
            <a:ext cx="1712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" y="2450592"/>
            <a:ext cx="2215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16.84%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49808" y="2944368"/>
            <a:ext cx="22151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Adequacy Ratio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85566" y="1828800"/>
            <a:ext cx="2580894" cy="1216152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86734" y="2029968"/>
            <a:ext cx="384048" cy="384048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13" name="Image 1" descr="/home/claude/icici/assets/icons/chartlin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501" y="2083735"/>
            <a:ext cx="276515" cy="2765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71366" y="2011680"/>
            <a:ext cx="1712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586734" y="2450592"/>
            <a:ext cx="2215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4.36%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3586734" y="2944368"/>
            <a:ext cx="22151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Interest Margin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222492" y="1828800"/>
            <a:ext cx="2580894" cy="1216152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23660" y="2029968"/>
            <a:ext cx="384048" cy="384048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19" name="Image 2" descr="/home/claude/icici/assets/icons/shiel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427" y="2083735"/>
            <a:ext cx="276515" cy="27651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08292" y="2011680"/>
            <a:ext cx="1712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NPA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23660" y="2450592"/>
            <a:ext cx="2215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1.53%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6423660" y="2944368"/>
            <a:ext cx="22151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Quality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9059418" y="1828800"/>
            <a:ext cx="2580894" cy="1216152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60586" y="2029968"/>
            <a:ext cx="384048" cy="384048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25" name="Image 3" descr="/home/claude/icici/assets/icons/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4353" y="2083735"/>
            <a:ext cx="276515" cy="27651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745218" y="2011680"/>
            <a:ext cx="1712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NPA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260586" y="2450592"/>
            <a:ext cx="2215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0.35%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9260586" y="2944368"/>
            <a:ext cx="22151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Quality (net)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548640" y="3300984"/>
            <a:ext cx="2580894" cy="1216152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2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49808" y="3502152"/>
            <a:ext cx="384048" cy="384048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31" name="Image 4" descr="/home/claude/icici/assets/icons/coin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575" y="3555919"/>
            <a:ext cx="276515" cy="27651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34440" y="3483864"/>
            <a:ext cx="1712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749808" y="3922776"/>
            <a:ext cx="2215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100" dirty="0"/>
          </a:p>
        </p:txBody>
      </p:sp>
      <p:sp>
        <p:nvSpPr>
          <p:cNvPr id="34" name="Text 27"/>
          <p:cNvSpPr/>
          <p:nvPr/>
        </p:nvSpPr>
        <p:spPr>
          <a:xfrm>
            <a:off x="749808" y="4416552"/>
            <a:ext cx="22151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Deposit Mix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3385566" y="3300984"/>
            <a:ext cx="2580894" cy="1216152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2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586734" y="3502152"/>
            <a:ext cx="384048" cy="384048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37" name="Image 5" descr="/home/claude/icici/assets/icons/chartlin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0501" y="3555919"/>
            <a:ext cx="276515" cy="27651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071366" y="3483864"/>
            <a:ext cx="1712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3586734" y="3922776"/>
            <a:ext cx="2215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2100" dirty="0"/>
          </a:p>
        </p:txBody>
      </p:sp>
      <p:sp>
        <p:nvSpPr>
          <p:cNvPr id="40" name="Text 32"/>
          <p:cNvSpPr/>
          <p:nvPr/>
        </p:nvSpPr>
        <p:spPr>
          <a:xfrm>
            <a:off x="3586734" y="4416552"/>
            <a:ext cx="22151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Equity (TTM)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6222492" y="3300984"/>
            <a:ext cx="2580894" cy="1216152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22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423660" y="3502152"/>
            <a:ext cx="384048" cy="384048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43" name="Image 6" descr="/home/claude/icici/assets/icons/bullsey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427" y="3555919"/>
            <a:ext cx="276515" cy="276515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908292" y="3483864"/>
            <a:ext cx="1712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6423660" y="3922776"/>
            <a:ext cx="2215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7.18%</a:t>
            </a:r>
            <a:endParaRPr lang="en-US" sz="2100" dirty="0"/>
          </a:p>
        </p:txBody>
      </p:sp>
      <p:sp>
        <p:nvSpPr>
          <p:cNvPr id="46" name="Text 37"/>
          <p:cNvSpPr/>
          <p:nvPr/>
        </p:nvSpPr>
        <p:spPr>
          <a:xfrm>
            <a:off x="6423660" y="4416552"/>
            <a:ext cx="22151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Capital Employed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9059418" y="3300984"/>
            <a:ext cx="2580894" cy="1216152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22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9260586" y="3502152"/>
            <a:ext cx="384048" cy="384048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49" name="Image 7" descr="/home/claude/icici/assets/icons/percentage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4353" y="3555919"/>
            <a:ext cx="276515" cy="276515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9745218" y="3483864"/>
            <a:ext cx="1712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</a:t>
            </a:r>
            <a:endParaRPr lang="en-US" sz="1000" dirty="0"/>
          </a:p>
        </p:txBody>
      </p:sp>
      <p:sp>
        <p:nvSpPr>
          <p:cNvPr id="51" name="Text 41"/>
          <p:cNvSpPr/>
          <p:nvPr/>
        </p:nvSpPr>
        <p:spPr>
          <a:xfrm>
            <a:off x="9260586" y="3922776"/>
            <a:ext cx="2215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17.6x</a:t>
            </a:r>
            <a:endParaRPr lang="en-US" sz="2100" dirty="0"/>
          </a:p>
        </p:txBody>
      </p:sp>
      <p:sp>
        <p:nvSpPr>
          <p:cNvPr id="52" name="Text 42"/>
          <p:cNvSpPr/>
          <p:nvPr/>
        </p:nvSpPr>
        <p:spPr>
          <a:xfrm>
            <a:off x="9260586" y="4416552"/>
            <a:ext cx="22151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Valuation</a:t>
            </a:r>
            <a:endParaRPr lang="en-US" sz="950" dirty="0"/>
          </a:p>
        </p:txBody>
      </p:sp>
      <p:sp>
        <p:nvSpPr>
          <p:cNvPr id="53" name="Shape 43"/>
          <p:cNvSpPr/>
          <p:nvPr/>
        </p:nvSpPr>
        <p:spPr>
          <a:xfrm>
            <a:off x="548640" y="4773168"/>
            <a:ext cx="2580894" cy="1216152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22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749808" y="4974336"/>
            <a:ext cx="384048" cy="384048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55" name="Image 8" descr="/home/claude/icici/assets/icons/rupee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575" y="5028103"/>
            <a:ext cx="276515" cy="276515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1234440" y="4956048"/>
            <a:ext cx="1712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VALUE</a:t>
            </a:r>
            <a:endParaRPr lang="en-US" sz="1000" dirty="0"/>
          </a:p>
        </p:txBody>
      </p:sp>
      <p:sp>
        <p:nvSpPr>
          <p:cNvPr id="57" name="Text 46"/>
          <p:cNvSpPr/>
          <p:nvPr/>
        </p:nvSpPr>
        <p:spPr>
          <a:xfrm>
            <a:off x="749808" y="5394960"/>
            <a:ext cx="2215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₹527</a:t>
            </a:r>
            <a:endParaRPr lang="en-US" sz="2100" dirty="0"/>
          </a:p>
        </p:txBody>
      </p:sp>
      <p:sp>
        <p:nvSpPr>
          <p:cNvPr id="58" name="Text 47"/>
          <p:cNvSpPr/>
          <p:nvPr/>
        </p:nvSpPr>
        <p:spPr>
          <a:xfrm>
            <a:off x="749808" y="5888736"/>
            <a:ext cx="22151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Share</a:t>
            </a:r>
            <a:endParaRPr lang="en-US" sz="950" dirty="0"/>
          </a:p>
        </p:txBody>
      </p:sp>
      <p:sp>
        <p:nvSpPr>
          <p:cNvPr id="59" name="Shape 48"/>
          <p:cNvSpPr/>
          <p:nvPr/>
        </p:nvSpPr>
        <p:spPr>
          <a:xfrm>
            <a:off x="3385566" y="4773168"/>
            <a:ext cx="2580894" cy="1216152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22000"/>
              </a:srgbClr>
            </a:outerShdw>
          </a:effectLst>
        </p:spPr>
      </p:sp>
      <p:sp>
        <p:nvSpPr>
          <p:cNvPr id="60" name="Shape 49"/>
          <p:cNvSpPr/>
          <p:nvPr/>
        </p:nvSpPr>
        <p:spPr>
          <a:xfrm>
            <a:off x="3586734" y="4974336"/>
            <a:ext cx="384048" cy="384048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61" name="Image 9" descr="/home/claude/icici/assets/icons/coins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0501" y="5028103"/>
            <a:ext cx="276515" cy="276515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4071366" y="4956048"/>
            <a:ext cx="1712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000" dirty="0"/>
          </a:p>
        </p:txBody>
      </p:sp>
      <p:sp>
        <p:nvSpPr>
          <p:cNvPr id="63" name="Text 51"/>
          <p:cNvSpPr/>
          <p:nvPr/>
        </p:nvSpPr>
        <p:spPr>
          <a:xfrm>
            <a:off x="3586734" y="5394960"/>
            <a:ext cx="2215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₹9,90,020 Cr</a:t>
            </a:r>
            <a:endParaRPr lang="en-US" sz="2100" dirty="0"/>
          </a:p>
        </p:txBody>
      </p:sp>
      <p:sp>
        <p:nvSpPr>
          <p:cNvPr id="64" name="Text 52"/>
          <p:cNvSpPr/>
          <p:nvPr/>
        </p:nvSpPr>
        <p:spPr>
          <a:xfrm>
            <a:off x="3586734" y="5888736"/>
            <a:ext cx="22151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50" dirty="0"/>
          </a:p>
        </p:txBody>
      </p:sp>
      <p:sp>
        <p:nvSpPr>
          <p:cNvPr id="65" name="Shape 53"/>
          <p:cNvSpPr/>
          <p:nvPr/>
        </p:nvSpPr>
        <p:spPr>
          <a:xfrm>
            <a:off x="6222492" y="4773168"/>
            <a:ext cx="2580894" cy="1216152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22000"/>
              </a:srgbClr>
            </a:outerShdw>
          </a:effectLst>
        </p:spPr>
      </p:sp>
      <p:sp>
        <p:nvSpPr>
          <p:cNvPr id="66" name="Shape 54"/>
          <p:cNvSpPr/>
          <p:nvPr/>
        </p:nvSpPr>
        <p:spPr>
          <a:xfrm>
            <a:off x="6423660" y="4974336"/>
            <a:ext cx="384048" cy="384048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67" name="Image 10" descr="/home/claude/icici/assets/icons/handusd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427" y="5028103"/>
            <a:ext cx="276515" cy="276515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6908292" y="4956048"/>
            <a:ext cx="1712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</a:t>
            </a:r>
            <a:endParaRPr lang="en-US" sz="1000" dirty="0"/>
          </a:p>
        </p:txBody>
      </p:sp>
      <p:sp>
        <p:nvSpPr>
          <p:cNvPr id="69" name="Text 56"/>
          <p:cNvSpPr/>
          <p:nvPr/>
        </p:nvSpPr>
        <p:spPr>
          <a:xfrm>
            <a:off x="6423660" y="5394960"/>
            <a:ext cx="2215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0.87%</a:t>
            </a:r>
            <a:endParaRPr lang="en-US" sz="2100" dirty="0"/>
          </a:p>
        </p:txBody>
      </p:sp>
      <p:sp>
        <p:nvSpPr>
          <p:cNvPr id="70" name="Text 57"/>
          <p:cNvSpPr/>
          <p:nvPr/>
        </p:nvSpPr>
        <p:spPr>
          <a:xfrm>
            <a:off x="6423660" y="5888736"/>
            <a:ext cx="22151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50" dirty="0"/>
          </a:p>
        </p:txBody>
      </p:sp>
      <p:sp>
        <p:nvSpPr>
          <p:cNvPr id="71" name="Shape 58"/>
          <p:cNvSpPr/>
          <p:nvPr/>
        </p:nvSpPr>
        <p:spPr>
          <a:xfrm>
            <a:off x="9059418" y="4773168"/>
            <a:ext cx="2580894" cy="1216152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22000"/>
              </a:srgbClr>
            </a:outerShdw>
          </a:effectLst>
        </p:spPr>
      </p:sp>
      <p:sp>
        <p:nvSpPr>
          <p:cNvPr id="72" name="Shape 59"/>
          <p:cNvSpPr/>
          <p:nvPr/>
        </p:nvSpPr>
        <p:spPr>
          <a:xfrm>
            <a:off x="9260586" y="4974336"/>
            <a:ext cx="384048" cy="384048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73" name="Image 11" descr="/home/claude/icici/assets/icons/branch_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14353" y="5028103"/>
            <a:ext cx="276515" cy="276515"/>
          </a:xfrm>
          <a:prstGeom prst="rect">
            <a:avLst/>
          </a:prstGeom>
        </p:spPr>
      </p:pic>
      <p:sp>
        <p:nvSpPr>
          <p:cNvPr id="74" name="Text 60"/>
          <p:cNvSpPr/>
          <p:nvPr/>
        </p:nvSpPr>
        <p:spPr>
          <a:xfrm>
            <a:off x="9745218" y="4956048"/>
            <a:ext cx="1712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</a:t>
            </a:r>
            <a:endParaRPr lang="en-US" sz="1000" dirty="0"/>
          </a:p>
        </p:txBody>
      </p:sp>
      <p:sp>
        <p:nvSpPr>
          <p:cNvPr id="75" name="Text 61"/>
          <p:cNvSpPr/>
          <p:nvPr/>
        </p:nvSpPr>
        <p:spPr>
          <a:xfrm>
            <a:off x="9260586" y="5394960"/>
            <a:ext cx="2215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₹16,31,260 Cr</a:t>
            </a:r>
            <a:endParaRPr lang="en-US" sz="2100" dirty="0"/>
          </a:p>
        </p:txBody>
      </p:sp>
      <p:sp>
        <p:nvSpPr>
          <p:cNvPr id="76" name="Text 62"/>
          <p:cNvSpPr/>
          <p:nvPr/>
        </p:nvSpPr>
        <p:spPr>
          <a:xfrm>
            <a:off x="9260586" y="5888736"/>
            <a:ext cx="22151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+19.6% YoY (standalone)</a:t>
            </a:r>
            <a:endParaRPr lang="en-US" sz="950" dirty="0"/>
          </a:p>
        </p:txBody>
      </p:sp>
      <p:sp>
        <p:nvSpPr>
          <p:cNvPr id="77" name="Text 6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Current Snapshot</a:t>
            </a:r>
            <a:endParaRPr lang="en-US" sz="900" dirty="0"/>
          </a:p>
        </p:txBody>
      </p:sp>
      <p:sp>
        <p:nvSpPr>
          <p:cNvPr id="78" name="Text 64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BANK LTD (CONSOLIDATED)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years of compounding growth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Revenue and Net Margin, FY2021-22 to FY2025-26 (actuals)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766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9164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0A1F44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187452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909560" y="2514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CAGR, FY22–FY26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09560" y="28803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more than doubled in four years, from ₹95,407 Cr to ₹1,95,218 Cr.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E7FBF4"/>
          </a:solidFill>
          <a:ln/>
        </p:spPr>
      </p:sp>
      <p:sp>
        <p:nvSpPr>
          <p:cNvPr id="11" name="Text 8"/>
          <p:cNvSpPr/>
          <p:nvPr/>
        </p:nvSpPr>
        <p:spPr>
          <a:xfrm>
            <a:off x="7909560" y="397764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909560" y="4617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CAGR, FY22–FY26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09560" y="49834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 has held a steady 27-28% band even through a rising-rate cycle.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Historical Performance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BANK LTD (CONSOLIDATED)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five-year plan is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item is driven off an explicit, sourced growth assumption — never a hardcoded forecast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— KEY DRIVERS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70408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50976"/>
                <a:gridCol w="950976"/>
                <a:gridCol w="950976"/>
                <a:gridCol w="950976"/>
                <a:gridCol w="95097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FY28E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FY29E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FY30E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FY31E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growth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expense growth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growth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income growth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tax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Minority interest, % of PBT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8006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calibrated to Q1 FY2026-27 results and sell-side guidance (Axis Direct, MOFSL, JM Financial) — loan book +19.6% YoY moderating toward systemic ~14% credit growth by FY27-28.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818120" y="178308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LENSES ON THE SAME MODEL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18120" y="2148840"/>
            <a:ext cx="3794760" cy="1051560"/>
          </a:xfrm>
          <a:prstGeom prst="roundRect">
            <a:avLst>
              <a:gd name="adj" fmla="val 8696"/>
            </a:avLst>
          </a:prstGeom>
          <a:solidFill>
            <a:srgbClr val="E8A93B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227685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0" y="26060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slowdown; NIM &amp; asset-quality pressure reassert.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818120" y="3355848"/>
            <a:ext cx="3794760" cy="1051560"/>
          </a:xfrm>
          <a:prstGeom prst="roundRect">
            <a:avLst>
              <a:gd name="adj" fmla="val 8696"/>
            </a:avLst>
          </a:prstGeom>
          <a:solidFill>
            <a:srgbClr val="0A1F44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348386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046720" y="381304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Consensus-aligned; in line with FY24-26 trend and current guidance.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818120" y="4562856"/>
            <a:ext cx="3794760" cy="1051560"/>
          </a:xfrm>
          <a:prstGeom prst="roundRect">
            <a:avLst>
              <a:gd name="adj" fmla="val 8696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0" y="46908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46720" y="502005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up-cycle sustained; benign asset quality persists.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Forecast Methodology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BANK LTD (CONSOLIDATED)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· ACTIVE SCENARIO: BULL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profitability, FY26-27E to FY30-31E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case: credit up-cycle sustained, benign asset quality — all figures ₹ Crore, consolidated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766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9164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0A1F44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187452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909560" y="2514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CAGR, FY26–FY31E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09560" y="28803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Loan-book momentum (+19.6% YoY) is assumed to persist through the cycle.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E7FBF4"/>
          </a:solidFill>
          <a:ln/>
        </p:spPr>
      </p:sp>
      <p:sp>
        <p:nvSpPr>
          <p:cNvPr id="11" name="Text 8"/>
          <p:cNvSpPr/>
          <p:nvPr/>
        </p:nvSpPr>
        <p:spPr>
          <a:xfrm>
            <a:off x="7909560" y="397764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44.5%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909560" y="461772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Cost-to-Income, FY30-31E (from 59.5% FY26-27E)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09560" y="50749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operating leverage drives PPOP margin from 46.9% to 66.0%.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Revenue &amp; Profitability Forecast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BANK LTD (CONSOLIDATED)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vs Bull vs Bear, FY30-31E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plan's sensitivity is concentrated in three levers: credit growth, NIM discipline, and cost-to-income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45262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2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3611880" cy="109728"/>
          </a:xfrm>
          <a:prstGeom prst="roundRect">
            <a:avLst/>
          </a:prstGeom>
          <a:solidFill>
            <a:srgbClr val="E8A9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214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slowdown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FY30-31E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19125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₹2,96,221 Cr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3721608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PROFIT, FY30-31E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394106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₹35,340 Cr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4471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MARGIN, FY30-31E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469087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" y="5221224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CAGR, FY26-31E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-8.2%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297680" y="1828800"/>
            <a:ext cx="3611880" cy="45262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2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1828800"/>
            <a:ext cx="3611880" cy="109728"/>
          </a:xfrm>
          <a:prstGeom prst="roundRect">
            <a:avLst/>
          </a:prstGeom>
          <a:solidFill>
            <a:srgbClr val="0A1F4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21214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0" y="25420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Consensus-aligned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0" y="2971800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FY30-31E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319125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₹3,84,154 Cr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572000" y="3721608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PROFIT, FY30-31E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394106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₹1,34,002 Cr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572000" y="4471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MARGIN, FY30-31E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469087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34.9%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572000" y="5221224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CAGR, FY26-31E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54406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19.8%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8046720" y="1828800"/>
            <a:ext cx="3611880" cy="4526280"/>
          </a:xfrm>
          <a:prstGeom prst="roundRect">
            <a:avLst>
              <a:gd name="adj" fmla="val 3038"/>
            </a:avLst>
          </a:prstGeom>
          <a:solidFill>
            <a:srgbClr val="0A1F44"/>
          </a:solidFill>
          <a:ln/>
          <a:effectLst>
            <a:outerShdw sx="100000" sy="100000" kx="0" ky="0" algn="bl" rotWithShape="0" blurRad="177800" dist="38100" dir="5400000">
              <a:srgbClr val="0A1F44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0" y="1828800"/>
            <a:ext cx="3611880" cy="109728"/>
          </a:xfrm>
          <a:prstGeom prst="roundRect">
            <a:avLst/>
          </a:prstGeom>
          <a:solidFill>
            <a:srgbClr val="00D9A3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21214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21040" y="25420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scenario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21040" y="2971800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FY30-31E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21040" y="319125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₹4,46,571 Cr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8321040" y="3721608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PROFIT, FY30-31E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21040" y="394106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₹2,05,517 Cr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8321040" y="4471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MARGIN, FY30-31E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21040" y="469087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46.0%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8321040" y="5221224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CAGR, FY26-31E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321040" y="54406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30.5%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Scenario Analysis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BANK LTD (CONSOLIDATED)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DRIVING THIS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forces behind the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29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2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30352" cy="530352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6" name="Image 0" descr="/home/claude/icici/assets/icons/bran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209" y="1948769"/>
            <a:ext cx="381853" cy="3818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9656"/>
            <a:ext cx="41285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growth is the single biggest swing factor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8143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CAGR ranges from ~8% (Bear) to ~18% (Bull) purely off the credit-growth assumption — the model is far more sensitive to loan-book growth than to any other lever.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77356" y="1600200"/>
            <a:ext cx="53629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2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1676" y="1874520"/>
            <a:ext cx="530352" cy="530352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11" name="Image 1" descr="/home/claude/icici/assets/icons/chartlin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925" y="1948769"/>
            <a:ext cx="381853" cy="3818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37476" y="1819656"/>
            <a:ext cx="41285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Cost-to-income discipline compounds over five years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51676" y="2560320"/>
            <a:ext cx="48143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3-4pp gap between Base and Bull opex-growth assumptions is worth several percentage points of Net Margin by FY30-31E.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629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2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530352" cy="530352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16" name="Image 2" descr="/home/claude/icici/assets/icons/balanc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09" y="4326209"/>
            <a:ext cx="381853" cy="38185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197096"/>
            <a:ext cx="41285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Minority interest is a small but real drag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143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~4-5% of PBT flows to insurance and AMC subsidiaries' minority shareholders — easy to miss when modelling off PBT alone, so it's explicitly broken out here.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77356" y="3977640"/>
            <a:ext cx="53629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2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1676" y="4251960"/>
            <a:ext cx="530352" cy="530352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21" name="Image 3" descr="/home/claude/icici/assets/icons/coin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925" y="4326209"/>
            <a:ext cx="381853" cy="38185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37476" y="4197096"/>
            <a:ext cx="41285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&amp; other income is the second-largest upside driver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551676" y="4937760"/>
            <a:ext cx="48143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at a 12.5-17% CAGR range across scenarios, consistent with management's stated focus on strengthening the fee-income mix.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Key Drivers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BANK LTD (CONSOLIDATED)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management should do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32B57"/>
          </a:solidFill>
          <a:ln w="15875">
            <a:solidFill>
              <a:srgbClr val="00D9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07008" y="1636776"/>
            <a:ext cx="4736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NIM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07008" y="2011680"/>
            <a:ext cx="4736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disciplined mix of retail/SME/corporate loan growth so margin doesn't erode as the book scales; size FCNR(B) mobilisation to stay within the Base-case envelope.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132B57"/>
          </a:solidFill>
          <a:ln w="15875">
            <a:solidFill>
              <a:srgbClr val="00D9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7008" y="3035808"/>
            <a:ext cx="4736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pushing cost-to-income down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07008" y="3410712"/>
            <a:ext cx="4736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Bull-vs-Base gap is worth real money by FY30-31E — continue the digital/self-service opex leverage that drove the FY24-26 improvement.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4489704"/>
            <a:ext cx="457200" cy="457200"/>
          </a:xfrm>
          <a:prstGeom prst="ellipse">
            <a:avLst/>
          </a:prstGeom>
          <a:solidFill>
            <a:srgbClr val="132B57"/>
          </a:solidFill>
          <a:ln w="15875">
            <a:solidFill>
              <a:srgbClr val="00D9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07008" y="4434840"/>
            <a:ext cx="4736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Diversify fee income further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07008" y="4809744"/>
            <a:ext cx="4736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distribution, transaction banking and cards so Other Income doesn't depend solely on a benign credit cycle.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457200" cy="457200"/>
          </a:xfrm>
          <a:prstGeom prst="ellipse">
            <a:avLst/>
          </a:prstGeom>
          <a:solidFill>
            <a:srgbClr val="132B57"/>
          </a:solidFill>
          <a:ln w="15875">
            <a:solidFill>
              <a:srgbClr val="00D9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22008" y="1636776"/>
            <a:ext cx="4736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credit-cost discipline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22008" y="2011680"/>
            <a:ext cx="4736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 a loan-growth upcycle — the Bear case shows how quickly Net Profit CAGR can invert if growth slows and provisioning normalises together.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63640" y="3090672"/>
            <a:ext cx="457200" cy="457200"/>
          </a:xfrm>
          <a:prstGeom prst="ellipse">
            <a:avLst/>
          </a:prstGeom>
          <a:solidFill>
            <a:srgbClr val="132B57"/>
          </a:solidFill>
          <a:ln w="15875">
            <a:solidFill>
              <a:srgbClr val="00D9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22008" y="3035808"/>
            <a:ext cx="4736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Bear case as a monitoring trigger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22008" y="3410712"/>
            <a:ext cx="4736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systemic credit growth (guided to moderate toward ~14% in FY27) as the single best early-warning indicator for this plan.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Recommended Actions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BANK LTD (CONSOLIDATED)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TO MONITOR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move the plan off course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548640" cy="548640"/>
          </a:xfrm>
          <a:prstGeom prst="ellipse">
            <a:avLst/>
          </a:prstGeom>
          <a:solidFill>
            <a:srgbClr val="FBEEDA"/>
          </a:solidFill>
          <a:ln/>
        </p:spPr>
      </p:sp>
      <p:pic>
        <p:nvPicPr>
          <p:cNvPr id="6" name="Image 0" descr="/home/claude/icici/assets/icons/warn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69618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1051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credit growth moderation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166360" y="1783080"/>
            <a:ext cx="6263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Sell-side sees system-wide growth slowing toward ~14% in FY27 — this could pull Revenue growth toward the Base/Bear range even if ICICI Bank continues to outgrow peers.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91672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008376"/>
            <a:ext cx="548640" cy="548640"/>
          </a:xfrm>
          <a:prstGeom prst="ellipse">
            <a:avLst/>
          </a:prstGeom>
          <a:solidFill>
            <a:srgbClr val="FBEEDA"/>
          </a:solidFill>
          <a:ln/>
        </p:spPr>
      </p:sp>
      <p:pic>
        <p:nvPicPr>
          <p:cNvPr id="11" name="Image 1" descr="/home/claude/icici/assets/icons/chartlin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085186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260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 compression from rising cost of funds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166360" y="2898648"/>
            <a:ext cx="6263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and FCNR mobilisation, plus deposit repricing, is a live, management-flagged risk for FY27.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22776"/>
            <a:ext cx="11091672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123944"/>
            <a:ext cx="548640" cy="548640"/>
          </a:xfrm>
          <a:prstGeom prst="ellipse">
            <a:avLst/>
          </a:prstGeom>
          <a:solidFill>
            <a:srgbClr val="FBEEDA"/>
          </a:solidFill>
          <a:ln/>
        </p:spPr>
      </p:sp>
      <p:pic>
        <p:nvPicPr>
          <p:cNvPr id="16" name="Image 2" descr="/home/claude/icici/assets/icons/shiel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4200754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4164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Asset-quality normalisation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166360" y="4014216"/>
            <a:ext cx="6263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NPA is currently very low (0.35%) — the Bear case assumes some reversion, which is the main driver of its much lower profitability path.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038344"/>
            <a:ext cx="11091672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5239512"/>
            <a:ext cx="548640" cy="548640"/>
          </a:xfrm>
          <a:prstGeom prst="ellipse">
            <a:avLst/>
          </a:prstGeom>
          <a:solidFill>
            <a:srgbClr val="FBEEDA"/>
          </a:solidFill>
          <a:ln/>
        </p:spPr>
      </p:sp>
      <p:pic>
        <p:nvPicPr>
          <p:cNvPr id="21" name="Image 3" descr="/home/claude/icici/assets/icons/balanc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70" y="5316322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157216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minority-interest share of PBT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166360" y="5129784"/>
            <a:ext cx="6263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increase if subsidiaries (insurance, AMC) grow faster than the bank itself, modestly diluting attributable profit growth versus consolidated PBT growth.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Key Risks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BANK LTD (CONSOLIDATED)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32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ICICI Bank’s consolidated profitability plan for FY26-31E looks constructive and executable — it does not require heroic assumptions relative to the FY24-26 trend or current management guidance.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 Bull/Bear spread is a feature, not a flaw. It shows the plan’s sensitivity is concentrated in credit growth, NIM discipline, and cost-to-income — exactly the three levers management already has the most direct control over, or visibility into, each quarter.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074920"/>
            <a:ext cx="7863840" cy="0"/>
          </a:xfrm>
          <a:prstGeom prst="line">
            <a:avLst/>
          </a:prstGeom>
          <a:noFill/>
          <a:ln w="12700">
            <a:solidFill>
              <a:srgbClr val="2A3E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23036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operating / financial-planning recommendation for management — not an investment or trading recommendation on the stock.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· Overall Assessment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BANK LTD (CONSOLIDATED)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8455" y="5212080"/>
            <a:ext cx="365760" cy="9144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/>
        </p:spPr>
      </p:sp>
      <p:sp>
        <p:nvSpPr>
          <p:cNvPr id="3" name="Shape 1"/>
          <p:cNvSpPr/>
          <p:nvPr/>
        </p:nvSpPr>
        <p:spPr>
          <a:xfrm>
            <a:off x="9631375" y="4754880"/>
            <a:ext cx="365760" cy="13716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/>
        </p:spPr>
      </p:sp>
      <p:sp>
        <p:nvSpPr>
          <p:cNvPr id="4" name="Shape 2"/>
          <p:cNvSpPr/>
          <p:nvPr/>
        </p:nvSpPr>
        <p:spPr>
          <a:xfrm>
            <a:off x="10134295" y="4297680"/>
            <a:ext cx="365760" cy="182880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/>
        </p:spPr>
      </p:sp>
      <p:sp>
        <p:nvSpPr>
          <p:cNvPr id="5" name="Shape 3"/>
          <p:cNvSpPr/>
          <p:nvPr/>
        </p:nvSpPr>
        <p:spPr>
          <a:xfrm>
            <a:off x="10637215" y="3749040"/>
            <a:ext cx="365760" cy="2377440"/>
          </a:xfrm>
          <a:prstGeom prst="roundRect">
            <a:avLst>
              <a:gd name="adj" fmla="val 10000"/>
            </a:avLst>
          </a:prstGeom>
          <a:solidFill>
            <a:srgbClr val="132B57"/>
          </a:solidFill>
          <a:ln/>
        </p:spPr>
      </p:sp>
      <p:sp>
        <p:nvSpPr>
          <p:cNvPr id="6" name="Shape 4"/>
          <p:cNvSpPr/>
          <p:nvPr/>
        </p:nvSpPr>
        <p:spPr>
          <a:xfrm>
            <a:off x="11140135" y="3200400"/>
            <a:ext cx="365760" cy="2926080"/>
          </a:xfrm>
          <a:prstGeom prst="roundRect">
            <a:avLst>
              <a:gd name="adj" fmla="val 10000"/>
            </a:avLst>
          </a:prstGeom>
          <a:solidFill>
            <a:srgbClr val="00D9A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3794760"/>
            <a:ext cx="109728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776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 &amp; Analysis  ·  ICICI Bank Ltd (Consolidated)  ·  September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172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₹ Crore, consolidated basis · Sources: company financials, screener.in, BSE filings · Not an investment recommendation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2026-09-13T07:23:12Z</dcterms:created>
  <dcterms:modified xsi:type="dcterms:W3CDTF">2026-09-13T07:23:12Z</dcterms:modified>
</cp:coreProperties>
</file>